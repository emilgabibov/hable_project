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934f5cb52740cb" /><Relationship Type="http://schemas.openxmlformats.org/officeDocument/2006/relationships/extended-properties" Target="/docProps/app.xml" Id="Raf1e8c8086424b6d" /><Relationship Type="http://schemas.openxmlformats.org/officeDocument/2006/relationships/officeDocument" Target="/ppt/presentation.xml" Id="R22f92ff61b21459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a9421b15ebd4586"/>
  </p:sldMasterIdLst>
  <p:notesMasterIdLst>
    <p:notesMasterId xmlns:r="http://schemas.openxmlformats.org/officeDocument/2006/relationships" r:id="Rb88110059ff04420"/>
  </p:notesMasterIdLst>
  <p:sldIdLst>
    <p:sldId xmlns:r="http://schemas.openxmlformats.org/officeDocument/2006/relationships" id="256" r:id="R83eed852dd8e4911"/>
    <p:sldId xmlns:r="http://schemas.openxmlformats.org/officeDocument/2006/relationships" id="257" r:id="Re6edc0952a7d4bdc"/>
    <p:sldId xmlns:r="http://schemas.openxmlformats.org/officeDocument/2006/relationships" id="258" r:id="R3df04c2331eb46b1"/>
    <p:sldId xmlns:r="http://schemas.openxmlformats.org/officeDocument/2006/relationships" id="259" r:id="R5cbf907e4818406c"/>
    <p:sldId xmlns:r="http://schemas.openxmlformats.org/officeDocument/2006/relationships" id="260" r:id="Rb90c2607baa046b0"/>
    <p:sldId xmlns:r="http://schemas.openxmlformats.org/officeDocument/2006/relationships" id="261" r:id="R40e1452fd2814ad1"/>
    <p:sldId xmlns:r="http://schemas.openxmlformats.org/officeDocument/2006/relationships" id="262" r:id="Rc9e77006070442bf"/>
    <p:sldId xmlns:r="http://schemas.openxmlformats.org/officeDocument/2006/relationships" id="263" r:id="Rbc81ded64f034eef"/>
    <p:sldId xmlns:r="http://schemas.openxmlformats.org/officeDocument/2006/relationships" id="264" r:id="R23c0f84302e3460e"/>
    <p:sldId xmlns:r="http://schemas.openxmlformats.org/officeDocument/2006/relationships" id="265" r:id="R0ad6ec90c5ec45e7"/>
    <p:sldId xmlns:r="http://schemas.openxmlformats.org/officeDocument/2006/relationships" id="266" r:id="R09f745d9d1104841"/>
  </p:sldIdLst>
  <p:sldSz cx="12192000" cy="6858000"/>
  <p:notesSz cx="6858000" cy="9144000"/>
  <p:embeddedFontLst>
    <p:embeddedFont>
      <p:font typeface="Inter"/>
      <p:regular xmlns:r="http://schemas.openxmlformats.org/officeDocument/2006/relationships" r:id="R7881d65a152a432c"/>
      <p:bold xmlns:r="http://schemas.openxmlformats.org/officeDocument/2006/relationships" r:id="R69359e572d8c4ea3"/>
    </p:embeddedFont>
    <p:embeddedFont>
      <p:font typeface="Inter Medium"/>
      <p:regular xmlns:r="http://schemas.openxmlformats.org/officeDocument/2006/relationships" r:id="Rd6606ad902e34312"/>
    </p:embeddedFont>
    <p:embeddedFont>
      <p:font typeface="Inter SemiBold"/>
      <p:regular xmlns:r="http://schemas.openxmlformats.org/officeDocument/2006/relationships" r:id="R78f841043cc948dc"/>
      <p:bold xmlns:r="http://schemas.openxmlformats.org/officeDocument/2006/relationships" r:id="R6e9063fde6dd4f4e"/>
    </p:embeddedFont>
    <p:embeddedFont>
      <p:font typeface="OpenAI Sans"/>
      <p:regular xmlns:r="http://schemas.openxmlformats.org/officeDocument/2006/relationships" r:id="Rc6b6d76a269747a4"/>
      <p:bold xmlns:r="http://schemas.openxmlformats.org/officeDocument/2006/relationships" r:id="R984e29eafa6b4ab1"/>
      <p:italic xmlns:r="http://schemas.openxmlformats.org/officeDocument/2006/relationships" r:id="R330e3e5281bc499c"/>
      <p:boldItalic xmlns:r="http://schemas.openxmlformats.org/officeDocument/2006/relationships" r:id="Rb17f07063d874812"/>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cc2295f668d4fb8" /><Relationship Type="http://schemas.openxmlformats.org/officeDocument/2006/relationships/slideMaster" Target="/ppt/slideMasters/slideMaster1.xml" Id="R5a9421b15ebd4586" /><Relationship Type="http://schemas.openxmlformats.org/officeDocument/2006/relationships/notesMaster" Target="/ppt/notesMasters/notesMaster1.xml" Id="Rb88110059ff04420" /><Relationship Type="http://schemas.openxmlformats.org/officeDocument/2006/relationships/presProps" Target="/ppt/presProps.xml" Id="R1d61627536c744ef" /><Relationship Type="http://schemas.openxmlformats.org/officeDocument/2006/relationships/viewProps" Target="/ppt/viewProps.xml" Id="R7bc9c97ba2f64656" /><Relationship Type="http://schemas.openxmlformats.org/officeDocument/2006/relationships/tableStyles" Target="/ppt/tableStyles.xml" Id="Rbf56fa8e2b124c2d" /><Relationship Type="http://schemas.openxmlformats.org/officeDocument/2006/relationships/font" Target="/ppt/fonts/font.dat" Id="R7881d65a152a432c" /><Relationship Type="http://schemas.openxmlformats.org/officeDocument/2006/relationships/font" Target="/ppt/fonts/font2.dat" Id="R69359e572d8c4ea3" /><Relationship Type="http://schemas.openxmlformats.org/officeDocument/2006/relationships/font" Target="/ppt/fonts/font3.dat" Id="Rd6606ad902e34312" /><Relationship Type="http://schemas.openxmlformats.org/officeDocument/2006/relationships/font" Target="/ppt/fonts/font4.dat" Id="R78f841043cc948dc" /><Relationship Type="http://schemas.openxmlformats.org/officeDocument/2006/relationships/font" Target="/ppt/fonts/font5.dat" Id="R6e9063fde6dd4f4e" /><Relationship Type="http://schemas.openxmlformats.org/officeDocument/2006/relationships/font" Target="/ppt/fonts/font6.dat" Id="Rc6b6d76a269747a4" /><Relationship Type="http://schemas.openxmlformats.org/officeDocument/2006/relationships/font" Target="/ppt/fonts/font7.dat" Id="R984e29eafa6b4ab1" /><Relationship Type="http://schemas.openxmlformats.org/officeDocument/2006/relationships/font" Target="/ppt/fonts/font8.dat" Id="R330e3e5281bc499c" /><Relationship Type="http://schemas.openxmlformats.org/officeDocument/2006/relationships/font" Target="/ppt/fonts/font9.dat" Id="Rb17f07063d874812" /><Relationship Type="http://schemas.openxmlformats.org/officeDocument/2006/relationships/slide" Target="/ppt/slides/slide1.xml" Id="R83eed852dd8e4911" /><Relationship Type="http://schemas.openxmlformats.org/officeDocument/2006/relationships/slide" Target="/ppt/slides/slide2.xml" Id="Re6edc0952a7d4bdc" /><Relationship Type="http://schemas.openxmlformats.org/officeDocument/2006/relationships/slide" Target="/ppt/slides/slide3.xml" Id="R3df04c2331eb46b1" /><Relationship Type="http://schemas.openxmlformats.org/officeDocument/2006/relationships/slide" Target="/ppt/slides/slide4.xml" Id="R5cbf907e4818406c" /><Relationship Type="http://schemas.openxmlformats.org/officeDocument/2006/relationships/slide" Target="/ppt/slides/slide5.xml" Id="Rb90c2607baa046b0" /><Relationship Type="http://schemas.openxmlformats.org/officeDocument/2006/relationships/slide" Target="/ppt/slides/slide6.xml" Id="R40e1452fd2814ad1" /><Relationship Type="http://schemas.openxmlformats.org/officeDocument/2006/relationships/slide" Target="/ppt/slides/slide7.xml" Id="Rc9e77006070442bf" /><Relationship Type="http://schemas.openxmlformats.org/officeDocument/2006/relationships/slide" Target="/ppt/slides/slide8.xml" Id="Rbc81ded64f034eef" /><Relationship Type="http://schemas.openxmlformats.org/officeDocument/2006/relationships/slide" Target="/ppt/slides/slide9.xml" Id="R23c0f84302e3460e" /><Relationship Type="http://schemas.openxmlformats.org/officeDocument/2006/relationships/slide" Target="/ppt/slides/slide10.xml" Id="R0ad6ec90c5ec45e7" /><Relationship Type="http://schemas.openxmlformats.org/officeDocument/2006/relationships/slide" Target="/ppt/slides/slide11.xml" Id="R09f745d9d11048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c8c88dbc604e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a0bb560d0e49ab" /><Relationship Type="http://schemas.openxmlformats.org/officeDocument/2006/relationships/notesMaster" Target="/ppt/notesMasters/notesMaster1.xml" Id="Re4435bd5672e43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996668627f4a0c" /><Relationship Type="http://schemas.openxmlformats.org/officeDocument/2006/relationships/notesMaster" Target="/ppt/notesMasters/notesMaster1.xml" Id="Rbfcc5e48b08a4e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5512b578ae4769" /><Relationship Type="http://schemas.openxmlformats.org/officeDocument/2006/relationships/notesMaster" Target="/ppt/notesMasters/notesMaster1.xml" Id="Rc09188d8af5547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6085de737641e1" /><Relationship Type="http://schemas.openxmlformats.org/officeDocument/2006/relationships/notesMaster" Target="/ppt/notesMasters/notesMaster1.xml" Id="R5d5abda3f24d41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e00475b9064449" /><Relationship Type="http://schemas.openxmlformats.org/officeDocument/2006/relationships/notesMaster" Target="/ppt/notesMasters/notesMaster1.xml" Id="R0687a147a2cc49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16f14f7b594629" /><Relationship Type="http://schemas.openxmlformats.org/officeDocument/2006/relationships/notesMaster" Target="/ppt/notesMasters/notesMaster1.xml" Id="R8aef9231b7df46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db003483a94d83" /><Relationship Type="http://schemas.openxmlformats.org/officeDocument/2006/relationships/notesMaster" Target="/ppt/notesMasters/notesMaster1.xml" Id="R0cc0d874b92f48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1e25b58b634cc6" /><Relationship Type="http://schemas.openxmlformats.org/officeDocument/2006/relationships/notesMaster" Target="/ppt/notesMasters/notesMaster1.xml" Id="Rb753655cd0b343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f5147047b240cd" /><Relationship Type="http://schemas.openxmlformats.org/officeDocument/2006/relationships/notesMaster" Target="/ppt/notesMasters/notesMaster1.xml" Id="R721df2bdf4004d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581609f20343b6" /><Relationship Type="http://schemas.openxmlformats.org/officeDocument/2006/relationships/notesMaster" Target="/ppt/notesMasters/notesMaster1.xml" Id="R14bb2c95c3a743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a0ef7d9f114d65" /><Relationship Type="http://schemas.openxmlformats.org/officeDocument/2006/relationships/notesMaster" Target="/ppt/notesMasters/notesMaster1.xml" Id="R048076b1fae04f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61b9dd6b1148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f7a4a17e5341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4b9c89704c346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286c625f9448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1d6795cfcd40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6baa66a2ad485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128ad7c3ec7426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9febbf7dc374a5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3ffea77beb4b5b" /><Relationship Type="http://schemas.openxmlformats.org/officeDocument/2006/relationships/slideLayout" Target="/ppt/slideLayouts/slideLayout1.xml" Id="R5657ca04cca1449a" /><Relationship Type="http://schemas.openxmlformats.org/officeDocument/2006/relationships/slideLayout" Target="/ppt/slideLayouts/slideLayout2.xml" Id="Rac1d9fd6249a42a8" /><Relationship Type="http://schemas.openxmlformats.org/officeDocument/2006/relationships/slideLayout" Target="/ppt/slideLayouts/slideLayout3.xml" Id="Ra9b824995c44473a" /><Relationship Type="http://schemas.openxmlformats.org/officeDocument/2006/relationships/slideLayout" Target="/ppt/slideLayouts/slideLayout4.xml" Id="Rd15148807edb45ad" /><Relationship Type="http://schemas.openxmlformats.org/officeDocument/2006/relationships/slideLayout" Target="/ppt/slideLayouts/slideLayout5.xml" Id="R5b5da99832154dbb" /><Relationship Type="http://schemas.openxmlformats.org/officeDocument/2006/relationships/slideLayout" Target="/ppt/slideLayouts/slideLayout6.xml" Id="R544bbb9a54e44e96" /><Relationship Type="http://schemas.openxmlformats.org/officeDocument/2006/relationships/slideLayout" Target="/ppt/slideLayouts/slideLayout7.xml" Id="R29f2b323e9be4598" /><Relationship Type="http://schemas.openxmlformats.org/officeDocument/2006/relationships/slideLayout" Target="/ppt/slideLayouts/slideLayout8.xml" Id="R2f299e9f859a4748"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a:solidFill>
                  <a:schemeClr val="tx1"/>
                </a:solidFill>
                <a:latin typeface="+mn-lt"/>
                <a:ea typeface="+mn-lt"/>
                <a:cs typeface="+mn-lt"/>
              </a:defRPr>
            </a:lvl1pPr>
          </a:lstStyle>
          <a:p xmlns:a="http://schemas.openxmlformats.org/drawingml/2006/main">
            <a:fld id="{8574A810-7A8E-054F-9F6B-09E9C694ECF9}" type="slidenum">
              <a:t>‹#›</a:t>
            </a:fld>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5657ca04cca1449a"/>
    <p:sldLayoutId xmlns:r="http://schemas.openxmlformats.org/officeDocument/2006/relationships" id="2147483650" r:id="Rac1d9fd6249a42a8"/>
    <p:sldLayoutId xmlns:r="http://schemas.openxmlformats.org/officeDocument/2006/relationships" id="2147483651" r:id="Ra9b824995c44473a"/>
    <p:sldLayoutId xmlns:r="http://schemas.openxmlformats.org/officeDocument/2006/relationships" id="2147483652" r:id="Rd15148807edb45ad"/>
    <p:sldLayoutId xmlns:r="http://schemas.openxmlformats.org/officeDocument/2006/relationships" id="2147483653" r:id="R5b5da99832154dbb"/>
    <p:sldLayoutId xmlns:r="http://schemas.openxmlformats.org/officeDocument/2006/relationships" id="2147483654" r:id="R544bbb9a54e44e96"/>
    <p:sldLayoutId xmlns:r="http://schemas.openxmlformats.org/officeDocument/2006/relationships" id="2147483655" r:id="R29f2b323e9be4598"/>
    <p:sldLayoutId xmlns:r="http://schemas.openxmlformats.org/officeDocument/2006/relationships" id="2147483656" r:id="R2f299e9f859a4748"/>
  </p:sldLayoutIdLst>
  <p:hf hdr="0" dt="0"/>
  <p:txStyles>
    <p:titleStyle>
      <a:lvl1pPr xmlns:a="http://schemas.openxmlformats.org/drawingml/2006/main" algn="l">
        <a:lnSpc>
          <a:spcPct val="90000"/>
        </a:lnSpc>
        <a:buNone/>
        <a:defRPr sz="2900" b="0" i="0">
          <a:solidFill>
            <a:schemeClr val="tx1"/>
          </a:solidFill>
          <a:latin typeface="Inter Medium"/>
          <a:ea typeface="Inter Medium"/>
          <a:cs typeface="Inter Medium"/>
        </a:defRPr>
      </a:lvl1pPr>
    </p:titleStyle>
    <p:bodyStyle>
      <a:lvl1pPr xmlns:a="http://schemas.openxmlformats.org/drawingml/2006/main" marL="228600" indent="-228600" algn="l">
        <a:lnSpc>
          <a:spcPct val="90000"/>
        </a:lnSpc>
        <a:spcBef>
          <a:spcPts val="1000"/>
        </a:spcBef>
        <a:buChar char="•"/>
        <a:defRPr sz="24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0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18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53826d818c47b3" /><Relationship Type="http://schemas.openxmlformats.org/officeDocument/2006/relationships/notesSlide" Target="/ppt/notesSlides/notesSlide1.xml" Id="R69a94315f0c540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2c7c519f534ee9" /><Relationship Type="http://schemas.openxmlformats.org/officeDocument/2006/relationships/notesSlide" Target="/ppt/notesSlides/notesSlide2.xml" Id="R8965cb85f9634a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3368d0fefa4c59" /><Relationship Type="http://schemas.openxmlformats.org/officeDocument/2006/relationships/image" Target="/ppt/media/image.png" Id="R0bf84d9cea3244dc" /><Relationship Type="http://schemas.openxmlformats.org/officeDocument/2006/relationships/notesSlide" Target="/ppt/notesSlides/notesSlide3.xml" Id="R6f65289b05c94c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c7e1c0b55c04ef1" /><Relationship Type="http://schemas.openxmlformats.org/officeDocument/2006/relationships/notesSlide" Target="/ppt/notesSlides/notesSlide4.xml" Id="R846c6840e9d043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161a0ee9d24511" /><Relationship Type="http://schemas.openxmlformats.org/officeDocument/2006/relationships/image" Target="/ppt/media/image2.png" Id="R4c1309e214874d3d" /><Relationship Type="http://schemas.openxmlformats.org/officeDocument/2006/relationships/notesSlide" Target="/ppt/notesSlides/notesSlide5.xml" Id="R803f942535004b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a3ddadb3d447da" /><Relationship Type="http://schemas.openxmlformats.org/officeDocument/2006/relationships/notesSlide" Target="/ppt/notesSlides/notesSlide6.xml" Id="Rfe41a70f241146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bf0c39dd804718" /><Relationship Type="http://schemas.openxmlformats.org/officeDocument/2006/relationships/image" Target="/ppt/media/image3.png" Id="R875a8092ca88430e" /><Relationship Type="http://schemas.openxmlformats.org/officeDocument/2006/relationships/notesSlide" Target="/ppt/notesSlides/notesSlide7.xml" Id="R8962666b62de44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fc53e9ebeb48bd" /><Relationship Type="http://schemas.openxmlformats.org/officeDocument/2006/relationships/notesSlide" Target="/ppt/notesSlides/notesSlide8.xml" Id="Ra7c29883412348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6c025f9a7e943f0" /><Relationship Type="http://schemas.openxmlformats.org/officeDocument/2006/relationships/notesSlide" Target="/ppt/notesSlides/notesSlide9.xml" Id="Rbbb8c042b7b04d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4d89b9ae89d4760" /><Relationship Type="http://schemas.openxmlformats.org/officeDocument/2006/relationships/notesSlide" Target="/ppt/notesSlides/notesSlide10.xml" Id="R2f9600f9b1004a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0e057ce882940cc" /><Relationship Type="http://schemas.openxmlformats.org/officeDocument/2006/relationships/notesSlide" Target="/ppt/notesSlides/notesSlide11.xml" Id="R805f8350bb874d9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Hable</a:t>
            </a:r>
          </a:p>
          <a:p xmlns:a="http://schemas.openxmlformats.org/drawingml/2006/main">
            <a:pPr algn="ctr">
              <a:buNone/>
            </a:pPr>
            <a:r>
              <a:rPr sz="7200">
                <a:solidFill>
                  <a:srgbClr val="BCEF59"/>
                </a:solidFill>
              </a:rPr>
              <a:t>Project Kickoff</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A Flutter habit app pitch focused on social accountability, gamification, and real implementation depth</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Classroom presentation</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00000000-1234-1234-1234-123412341234}" type="slidenum">
              <a:t>2</a:t>
            </a:fld>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4229100" cy="519595"/>
          </a:xfrm>
        </p:spPr>
        <p:txBody>
          <a:bodyPr xmlns:a="http://schemas.openxmlformats.org/drawingml/2006/main"/>
          <a:lstStyle xmlns:a="http://schemas.openxmlformats.org/drawingml/2006/main"/>
          <a:p xmlns:a="http://schemas.openxmlformats.org/drawingml/2006/main">
            <a:r>
              <a:rPr>
                <a:solidFill>
                  <a:srgbClr val="BCEF59"/>
                </a:solidFill>
              </a:rPr>
              <a:t>Presentation flow</a:t>
            </a:r>
          </a:p>
        </p:txBody>
      </p:sp>
      <p:graphicFrame>
        <p:nvGraphicFramePr>
          <p:cNvPr id="9" name="Table 3"/>
          <p:cNvGraphicFramePr/>
          <p:nvPr/>
        </p:nvGraphicFramePr>
        <p:xfrm>
          <a:off xmlns:a="http://schemas.openxmlformats.org/drawingml/2006/main" x="393700" y="1881809"/>
          <a:ext xmlns:a="http://schemas.openxmlformats.org/drawingml/2006/main" cx="11404600" cy="4112586"/>
        </p:xfrm>
        <a:graphic xmlns:a="http://schemas.openxmlformats.org/drawingml/2006/main">
          <a:graphicData uri="http://schemas.openxmlformats.org/drawingml/2006/table">
            <a:tbl>
              <a:tblPr firstRow="1" bandRow="1">
                <a:tableStyleId>{5C22544A-7EE6-4342-B048-85BDC9FD1C3A}</a:tableStyleId>
              </a:tblPr>
              <a:tblGrid>
                <a:gridCol w="759239"/>
                <a:gridCol w="7222435"/>
                <a:gridCol w="3422926"/>
              </a:tblGrid>
              <a:tr h="685431">
                <a:tc>
                  <a:txBody>
                    <a:bodyPr/>
                    <a:lstStyle/>
                    <a:p>
                      <a:pPr marL="0" indent="0" algn="l">
                        <a:lnSpc>
                          <a:spcPct val="100000"/>
                        </a:lnSpc>
                        <a:buNone/>
                      </a:pPr>
                      <a:r>
                        <a:rPr sz="2500" b="0" i="0" u="none" cap="none">
                          <a:ln>
                            <a:noFill/>
                          </a:ln>
                          <a:solidFill>
                            <a:schemeClr val="tx1"/>
                          </a:solidFill>
                          <a:latin typeface="+mn-lt"/>
                          <a:ea typeface="+mn-lt"/>
                          <a:cs typeface="+mn-lt"/>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indent="0" algn="l">
                        <a:lnSpc>
                          <a:spcPct val="100000"/>
                        </a:lnSpc>
                        <a:buNone/>
                      </a:pPr>
                      <a:r>
                        <a:rPr sz="2500" b="0" i="0" u="none" cap="none">
                          <a:ln>
                            <a:noFill/>
                          </a:ln>
                          <a:solidFill>
                            <a:schemeClr val="tx1"/>
                          </a:solidFill>
                          <a:latin typeface="+mn-lt"/>
                          <a:ea typeface="+mn-lt"/>
                          <a:cs typeface="+mn-lt"/>
                        </a:rPr>
                        <a:t>Problem, idea, and why Hable matters</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indent="0" algn="r">
                        <a:lnSpc>
                          <a:spcPct val="100000"/>
                        </a:lnSpc>
                        <a:buNone/>
                      </a:pPr>
                      <a:r>
                        <a:rPr sz="2500" b="0" i="0" u="none" cap="none">
                          <a:ln>
                            <a:noFill/>
                          </a:ln>
                          <a:solidFill>
                            <a:srgbClr val="BCEF59"/>
                          </a:solidFill>
                          <a:latin typeface="+mn-lt"/>
                          <a:ea typeface="+mn-lt"/>
                          <a:cs typeface="+mn-lt"/>
                        </a:rPr>
                        <a:t>Emil</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85431">
                <a:tc>
                  <a:txBody>
                    <a:bodyPr/>
                    <a:lstStyle/>
                    <a:p>
                      <a:pPr marL="0" indent="0" algn="l">
                        <a:lnSpc>
                          <a:spcPct val="100000"/>
                        </a:lnSpc>
                        <a:buNone/>
                      </a:pPr>
                      <a:r>
                        <a:rPr sz="2500" b="0" i="0" u="none" cap="none">
                          <a:ln>
                            <a:noFill/>
                          </a:ln>
                          <a:solidFill>
                            <a:schemeClr val="tx1"/>
                          </a:solidFill>
                          <a:latin typeface="+mn-lt"/>
                          <a:ea typeface="+mn-lt"/>
                          <a:cs typeface="+mn-lt"/>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l">
                        <a:lnSpc>
                          <a:spcPct val="100000"/>
                        </a:lnSpc>
                        <a:buNone/>
                      </a:pPr>
                      <a:r>
                        <a:rPr sz="2500" b="0" i="0" u="none" cap="none">
                          <a:ln>
                            <a:noFill/>
                          </a:ln>
                          <a:solidFill>
                            <a:schemeClr val="tx1"/>
                          </a:solidFill>
                          <a:latin typeface="+mn-lt"/>
                          <a:ea typeface="+mn-lt"/>
                          <a:cs typeface="+mn-lt"/>
                        </a:rPr>
                        <a:t>Website and phone walkthrough</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r">
                        <a:lnSpc>
                          <a:spcPct val="100000"/>
                        </a:lnSpc>
                        <a:buNone/>
                      </a:pPr>
                      <a:r>
                        <a:rPr sz="2500" b="0" i="0" u="none" cap="none">
                          <a:ln>
                            <a:noFill/>
                          </a:ln>
                          <a:solidFill>
                            <a:srgbClr val="BCEF59"/>
                          </a:solidFill>
                          <a:latin typeface="+mn-lt"/>
                          <a:ea typeface="+mn-lt"/>
                          <a:cs typeface="+mn-lt"/>
                        </a:rPr>
                        <a:t>Nabeil</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indent="0" algn="l">
                        <a:lnSpc>
                          <a:spcPct val="100000"/>
                        </a:lnSpc>
                        <a:buNone/>
                      </a:pPr>
                      <a:r>
                        <a:rPr sz="2500" b="0" i="0" u="none" cap="none">
                          <a:ln>
                            <a:noFill/>
                          </a:ln>
                          <a:solidFill>
                            <a:schemeClr val="tx1"/>
                          </a:solidFill>
                          <a:latin typeface="+mn-lt"/>
                          <a:ea typeface="+mn-lt"/>
                          <a:cs typeface="+mn-lt"/>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l">
                        <a:lnSpc>
                          <a:spcPct val="100000"/>
                        </a:lnSpc>
                        <a:buNone/>
                      </a:pPr>
                      <a:r>
                        <a:rPr sz="2500" b="0" i="0" u="none" cap="none">
                          <a:ln>
                            <a:noFill/>
                          </a:ln>
                          <a:solidFill>
                            <a:schemeClr val="tx1"/>
                          </a:solidFill>
                          <a:latin typeface="+mn-lt"/>
                          <a:ea typeface="+mn-lt"/>
                          <a:cs typeface="+mn-lt"/>
                        </a:rPr>
                        <a:t>Add habit, points, profiles, leaderboard, friends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r">
                        <a:lnSpc>
                          <a:spcPct val="100000"/>
                        </a:lnSpc>
                        <a:buNone/>
                      </a:pPr>
                      <a:r>
                        <a:rPr sz="2500" b="0" i="0" u="none" cap="none">
                          <a:ln>
                            <a:noFill/>
                          </a:ln>
                          <a:solidFill>
                            <a:srgbClr val="BCEF59"/>
                          </a:solidFill>
                          <a:latin typeface="+mn-lt"/>
                          <a:ea typeface="+mn-lt"/>
                          <a:cs typeface="+mn-lt"/>
                        </a:rPr>
                        <a:t>Nabeil</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indent="0" algn="l">
                        <a:lnSpc>
                          <a:spcPct val="100000"/>
                        </a:lnSpc>
                        <a:buNone/>
                      </a:pPr>
                      <a:r>
                        <a:rPr sz="2500" b="0" i="0" u="none" cap="none">
                          <a:ln>
                            <a:noFill/>
                          </a:ln>
                          <a:solidFill>
                            <a:schemeClr val="tx1"/>
                          </a:solidFill>
                          <a:latin typeface="+mn-lt"/>
                          <a:ea typeface="+mn-lt"/>
                          <a:cs typeface="+mn-lt"/>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l">
                        <a:lnSpc>
                          <a:spcPct val="100000"/>
                        </a:lnSpc>
                        <a:buNone/>
                      </a:pPr>
                      <a:r>
                        <a:rPr sz="2500" b="0" i="0" u="none" cap="none">
                          <a:ln>
                            <a:noFill/>
                          </a:ln>
                          <a:solidFill>
                            <a:schemeClr val="tx1"/>
                          </a:solidFill>
                          <a:latin typeface="+mn-lt"/>
                          <a:ea typeface="+mn-lt"/>
                          <a:cs typeface="+mn-lt"/>
                        </a:rPr>
                        <a:t>Shared habits, nudges, and social accountability</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r">
                        <a:lnSpc>
                          <a:spcPct val="100000"/>
                        </a:lnSpc>
                        <a:buNone/>
                      </a:pPr>
                      <a:r>
                        <a:rPr sz="2500" b="0" i="0" u="none" cap="none">
                          <a:ln>
                            <a:noFill/>
                          </a:ln>
                          <a:solidFill>
                            <a:srgbClr val="BCEF59"/>
                          </a:solidFill>
                          <a:latin typeface="+mn-lt"/>
                          <a:ea typeface="+mn-lt"/>
                          <a:cs typeface="+mn-lt"/>
                        </a:rPr>
                        <a:t>Nabeil</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indent="0" algn="l">
                        <a:lnSpc>
                          <a:spcPct val="100000"/>
                        </a:lnSpc>
                        <a:buNone/>
                      </a:pPr>
                      <a:r>
                        <a:rPr sz="2500" b="0" i="0" u="none" cap="none">
                          <a:ln>
                            <a:noFill/>
                          </a:ln>
                          <a:solidFill>
                            <a:schemeClr val="tx1"/>
                          </a:solidFill>
                          <a:latin typeface="+mn-lt"/>
                          <a:ea typeface="+mn-lt"/>
                          <a:cs typeface="+mn-lt"/>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l">
                        <a:lnSpc>
                          <a:spcPct val="100000"/>
                        </a:lnSpc>
                        <a:buNone/>
                      </a:pPr>
                      <a:r>
                        <a:rPr sz="2500" b="0" i="0" u="none" cap="none">
                          <a:ln>
                            <a:noFill/>
                          </a:ln>
                          <a:solidFill>
                            <a:schemeClr val="tx1"/>
                          </a:solidFill>
                          <a:latin typeface="+mn-lt"/>
                          <a:ea typeface="+mn-lt"/>
                          <a:cs typeface="+mn-lt"/>
                        </a:rPr>
                        <a:t>Development evidence from the codebase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r">
                        <a:lnSpc>
                          <a:spcPct val="100000"/>
                        </a:lnSpc>
                        <a:buNone/>
                      </a:pPr>
                      <a:r>
                        <a:rPr sz="2500" b="0" i="0" u="none" cap="none">
                          <a:ln>
                            <a:noFill/>
                          </a:ln>
                          <a:solidFill>
                            <a:srgbClr val="BCEF59"/>
                          </a:solidFill>
                          <a:latin typeface="+mn-lt"/>
                          <a:ea typeface="+mn-lt"/>
                          <a:cs typeface="+mn-lt"/>
                        </a:rPr>
                        <a:t>Amir</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indent="0" algn="l">
                        <a:lnSpc>
                          <a:spcPct val="100000"/>
                        </a:lnSpc>
                        <a:buNone/>
                      </a:pPr>
                      <a:r>
                        <a:rPr sz="2500" b="0" i="0" u="none" cap="none">
                          <a:ln>
                            <a:noFill/>
                          </a:ln>
                          <a:solidFill>
                            <a:schemeClr val="tx1"/>
                          </a:solidFill>
                          <a:latin typeface="+mn-lt"/>
                          <a:ea typeface="+mn-lt"/>
                          <a:cs typeface="+mn-lt"/>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l">
                        <a:lnSpc>
                          <a:spcPct val="100000"/>
                        </a:lnSpc>
                        <a:buNone/>
                      </a:pPr>
                      <a:r>
                        <a:rPr sz="2500" b="0" i="0" u="none" cap="none">
                          <a:ln>
                            <a:noFill/>
                          </a:ln>
                          <a:solidFill>
                            <a:schemeClr val="tx1"/>
                          </a:solidFill>
                          <a:latin typeface="+mn-lt"/>
                          <a:ea typeface="+mn-lt"/>
                          <a:cs typeface="+mn-lt"/>
                        </a:rPr>
                        <a:t>Future scope, innovation, and scalability</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indent="0" algn="r">
                        <a:lnSpc>
                          <a:spcPct val="100000"/>
                        </a:lnSpc>
                        <a:buNone/>
                      </a:pPr>
                      <a:r>
                        <a:rPr sz="2500" b="0" i="0" u="none" cap="none">
                          <a:ln>
                            <a:noFill/>
                          </a:ln>
                          <a:solidFill>
                            <a:srgbClr val="BCEF59"/>
                          </a:solidFill>
                          <a:latin typeface="+mn-lt"/>
                          <a:ea typeface="+mn-lt"/>
                          <a:cs typeface="+mn-lt"/>
                        </a:rPr>
                        <a:t>Abdul</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Why Hable matters</a:t>
            </a:r>
          </a:p>
        </p:txBody>
      </p:sp>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latin typeface="Inter"/>
                <a:ea typeface="Inter"/>
                <a:cs typeface="Inter"/>
              </a:rPr>
              <a:t>Problem</a:t>
            </a:r>
          </a:p>
          <a:p xmlns:a="http://schemas.openxmlformats.org/drawingml/2006/main">
            <a:pPr marL="0" indent="0">
              <a:lnSpc>
                <a:spcPct val="114000"/>
              </a:lnSpc>
              <a:spcBef>
                <a:spcPts val="0"/>
              </a:spcBef>
              <a:spcAft>
                <a:spcPts val="800"/>
              </a:spcAft>
              <a:buNone/>
            </a:pPr>
            <a:r>
              <a:rPr sz="1700">
                <a:latin typeface="Inter"/>
                <a:ea typeface="Inter"/>
                <a:cs typeface="Inter"/>
              </a:rPr>
              <a:t>Short-form content, constant distractions, and instant gratification make consistent focus harder for students every day.</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latin typeface="Inter"/>
                <a:ea typeface="Inter"/>
                <a:cs typeface="Inter"/>
              </a:rPr>
              <a:t>Hable</a:t>
            </a:r>
          </a:p>
          <a:p xmlns:a="http://schemas.openxmlformats.org/drawingml/2006/main">
            <a:pPr marL="0" indent="0">
              <a:lnSpc>
                <a:spcPct val="114000"/>
              </a:lnSpc>
              <a:spcBef>
                <a:spcPts val="0"/>
              </a:spcBef>
              <a:spcAft>
                <a:spcPts val="800"/>
              </a:spcAft>
              <a:buNone/>
            </a:pPr>
            <a:r>
              <a:rPr sz="1700">
                <a:latin typeface="Inter"/>
                <a:ea typeface="Inter"/>
                <a:cs typeface="Inter"/>
              </a:rPr>
              <a:t>Hable, short for Habit + Stable, turns that same screen time into daily check-ins, streaks, points, and shared accountability.</a:t>
            </a:r>
          </a:p>
        </p:txBody>
      </p:sp>
      <p:pic>
        <p:nvPicPr>
          <p:cNvPr id="539" name=""/>
          <p:cNvPicPr>
            <a:picLocks xmlns:a="http://schemas.openxmlformats.org/drawingml/2006/main" noChangeAspect="1"/>
          </p:cNvPicPr>
          <p:nvPr/>
        </p:nvPicPr>
        <p:blipFill>
          <a:blip xmlns:r="http://schemas.openxmlformats.org/officeDocument/2006/relationships" xmlns:a="http://schemas.openxmlformats.org/drawingml/2006/main" r:embed="R0bf84d9cea3244dc"/>
          <a:srcRect xmlns:a="http://schemas.openxmlformats.org/drawingml/2006/main" l="0" t="0" r="0" b="0"/>
          <a:stretch xmlns:a="http://schemas.openxmlformats.org/drawingml/2006/main"/>
        </p:blipFill>
        <p:spPr>
          <a:xfrm xmlns:a="http://schemas.openxmlformats.org/drawingml/2006/main" flipH="0" flipV="0">
            <a:off x="6269040" y="396409"/>
            <a:ext cx="5539740" cy="5602070"/>
          </a:xfrm>
          <a:prstGeom xmlns:a="http://schemas.openxmlformats.org/drawingml/2006/main" prst="roundRect">
            <a:avLst/>
          </a:prstGeom>
        </p:spPr>
      </p:pic>
    </p:spTree>
    <p:extLst>
      <p:ext uri="{BB962C8B-B14F-4D97-AF65-F5344CB8AC3E}">
        <p14:creationId xmlns:p14="http://schemas.microsoft.com/office/powerpoint/2010/main" val="324567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00000000-1234-1234-1234-123412341234}" type="slidenum">
              <a:t>5</a:t>
            </a:fld>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Multiplayer productivity is the core advantage</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indent="0">
              <a:lnSpc>
                <a:spcPct val="114000"/>
              </a:lnSpc>
              <a:spcBef>
                <a:spcPts val="0"/>
              </a:spcBef>
              <a:spcAft>
                <a:spcPts val="800"/>
              </a:spcAft>
              <a:buNone/>
            </a:pPr>
            <a:r>
              <a:rPr>
                <a:solidFill>
                  <a:srgbClr val="BCEF59"/>
                </a:solidFill>
              </a:rPr>
              <a:t>Social accountability\nShared habits turn consistency into a team sport where friends can track progress together.</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indent="0">
              <a:lnSpc>
                <a:spcPct val="114000"/>
              </a:lnSpc>
              <a:spcBef>
                <a:spcPts val="0"/>
              </a:spcBef>
              <a:spcAft>
                <a:spcPts val="800"/>
              </a:spcAft>
              <a:buNone/>
            </a:pPr>
            <a:r>
              <a:rPr>
                <a:solidFill>
                  <a:srgbClr val="BCEF59"/>
                </a:solidFill>
              </a:rPr>
              <a:t>Interactive motivation\nThe nudge flow lets users remind a friend in real time without needing full push-notification complexity.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94773"/>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Gamified retention\nPoints, levels, badges, and visible progress make the habit loop feel rewarding instead of repetitive.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92429"/>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Cross-platform ecosystem\nFlutter keeps web, mobile, and desktop targets aligned so the same social graph can travel everywhere.</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Classroom demo flow</a:t>
            </a:r>
          </a:p>
        </p:txBody>
      </p:sp>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latin typeface="Inter"/>
                <a:ea typeface="Inter"/>
                <a:cs typeface="Inter"/>
              </a:rPr>
              <a:t>Demo start</a:t>
            </a:r>
          </a:p>
          <a:p xmlns:a="http://schemas.openxmlformats.org/drawingml/2006/main">
            <a:pPr marL="0" indent="0">
              <a:lnSpc>
                <a:spcPct val="114000"/>
              </a:lnSpc>
              <a:spcBef>
                <a:spcPts val="0"/>
              </a:spcBef>
              <a:spcAft>
                <a:spcPts val="800"/>
              </a:spcAft>
              <a:buNone/>
            </a:pPr>
            <a:r>
              <a:rPr sz="1700">
                <a:latin typeface="Inter"/>
                <a:ea typeface="Inter"/>
                <a:cs typeface="Inter"/>
              </a:rPr>
              <a:t>Begin on the website, then move into the phone-style dashboard to show that the app works beyond one device surface.</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latin typeface="Inter"/>
                <a:ea typeface="Inter"/>
                <a:cs typeface="Inter"/>
              </a:rPr>
              <a:t>Demo finish</a:t>
            </a:r>
          </a:p>
          <a:p xmlns:a="http://schemas.openxmlformats.org/drawingml/2006/main">
            <a:pPr marL="0" indent="0">
              <a:lnSpc>
                <a:spcPct val="114000"/>
              </a:lnSpc>
              <a:spcBef>
                <a:spcPts val="0"/>
              </a:spcBef>
              <a:spcAft>
                <a:spcPts val="800"/>
              </a:spcAft>
              <a:buNone/>
            </a:pPr>
            <a:r>
              <a:rPr sz="1700">
                <a:latin typeface="Inter"/>
                <a:ea typeface="Inter"/>
                <a:cs typeface="Inter"/>
              </a:rPr>
              <a:t>Add a habit, show points and profiles, open the leaderboard, and explain how shared habits and nudges keep users engaged.</a:t>
            </a:r>
          </a:p>
        </p:txBody>
      </p:sp>
      <p:pic>
        <p:nvPicPr>
          <p:cNvPr id="539" name=""/>
          <p:cNvPicPr>
            <a:picLocks xmlns:a="http://schemas.openxmlformats.org/drawingml/2006/main" noChangeAspect="1"/>
          </p:cNvPicPr>
          <p:nvPr/>
        </p:nvPicPr>
        <p:blipFill>
          <a:blip xmlns:r="http://schemas.openxmlformats.org/officeDocument/2006/relationships" xmlns:a="http://schemas.openxmlformats.org/drawingml/2006/main" r:embed="R4c1309e214874d3d"/>
          <a:srcRect xmlns:a="http://schemas.openxmlformats.org/drawingml/2006/main" l="0" t="0" r="0" b="0"/>
          <a:stretch xmlns:a="http://schemas.openxmlformats.org/drawingml/2006/main"/>
        </p:blipFill>
        <p:spPr>
          <a:xfrm xmlns:a="http://schemas.openxmlformats.org/drawingml/2006/main" flipH="0" flipV="0">
            <a:off x="6269040" y="396409"/>
            <a:ext cx="5539740" cy="5602070"/>
          </a:xfrm>
          <a:prstGeom xmlns:a="http://schemas.openxmlformats.org/drawingml/2006/main" prst="roundRect">
            <a:avLst/>
          </a:prstGeom>
        </p:spPr>
      </p:pic>
    </p:spTree>
    <p:extLst>
      <p:ext uri="{BB962C8B-B14F-4D97-AF65-F5344CB8AC3E}">
        <p14:creationId xmlns:p14="http://schemas.microsoft.com/office/powerpoint/2010/main" val="32456707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The app loop stays simple while the system underneath grows</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70999"/>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t>Create a personal challenge or attach an accepted friend to a shared habit.</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solidFill>
                  <a:srgbClr val="BCEF59"/>
                </a:solidFill>
                <a:latin typeface="Inter Medium"/>
                <a:ea typeface="Inter Medium"/>
                <a:cs typeface="Inter Medium"/>
              </a:rPr>
              <a:t>Add the habit</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65104"/>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t>Every valid completion feeds lifetime progression, streaks, and backend-owned score state.</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solidFill>
                  <a:srgbClr val="BCEF59"/>
                </a:solidFill>
                <a:latin typeface="Inter Medium"/>
                <a:ea typeface="Inter Medium"/>
                <a:cs typeface="Inter Medium"/>
              </a:rPr>
              <a:t>Earn points</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65341"/>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t>Levels, badges, and history make progress visible beyond a single daily check-in.</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solidFill>
                  <a:srgbClr val="BCEF59"/>
                </a:solidFill>
                <a:latin typeface="Inter Medium"/>
                <a:ea typeface="Inter Medium"/>
                <a:cs typeface="Inter Medium"/>
              </a:rPr>
              <a:t>Show the profile</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65104"/>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t>Friend profiles, leaderboard rankings, shared habits, and nudges all support accountability.</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98243"/>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None/>
            </a:pPr>
            <a:r>
              <a:rPr sz="1600">
                <a:solidFill>
                  <a:srgbClr val="BCEF59"/>
                </a:solidFill>
                <a:latin typeface="Inter Medium"/>
                <a:ea typeface="Inter Medium"/>
                <a:cs typeface="Inter Medium"/>
              </a:rPr>
              <a:t>Close the social loop</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Inter Medium"/>
                <a:ea typeface="Inter Medium"/>
                <a:cs typeface="Inter Medium"/>
              </a:rPr>
              <a:t>The presenter can walk from habit creation to social motivation in one continuous story instead of switching between unrelated features.</a:t>
            </a:r>
          </a:p>
        </p:txBody>
      </p:sp>
    </p:spTree>
    <p:extLst>
      <p:ext uri="{BB962C8B-B14F-4D97-AF65-F5344CB8AC3E}">
        <p14:creationId xmlns:p14="http://schemas.microsoft.com/office/powerpoint/2010/main" val="67611695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Development evidence from the repo</a:t>
            </a:r>
          </a:p>
        </p:txBody>
      </p:sp>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latin typeface="Inter"/>
                <a:ea typeface="Inter"/>
                <a:cs typeface="Inter"/>
              </a:rPr>
              <a:t>Architecture</a:t>
            </a:r>
          </a:p>
          <a:p xmlns:a="http://schemas.openxmlformats.org/drawingml/2006/main">
            <a:pPr marL="0" indent="0">
              <a:lnSpc>
                <a:spcPct val="114000"/>
              </a:lnSpc>
              <a:spcBef>
                <a:spcPts val="0"/>
              </a:spcBef>
              <a:spcAft>
                <a:spcPts val="800"/>
              </a:spcAft>
              <a:buNone/>
            </a:pPr>
            <a:r>
              <a:rPr sz="1700">
                <a:latin typeface="Inter"/>
                <a:ea typeface="Inter"/>
                <a:cs typeface="Inter"/>
              </a:rPr>
              <a:t>The frontend is organized around Drift, Riverpod, screens, services, and reusable widgets instead of one giant Flutter file.</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latin typeface="Inter"/>
                <a:ea typeface="Inter"/>
                <a:cs typeface="Inter"/>
              </a:rPr>
              <a:t>Backend depth</a:t>
            </a:r>
          </a:p>
          <a:p xmlns:a="http://schemas.openxmlformats.org/drawingml/2006/main">
            <a:pPr marL="0" indent="0">
              <a:lnSpc>
                <a:spcPct val="114000"/>
              </a:lnSpc>
              <a:spcBef>
                <a:spcPts val="0"/>
              </a:spcBef>
              <a:spcAft>
                <a:spcPts val="800"/>
              </a:spcAft>
              <a:buNone/>
            </a:pPr>
            <a:r>
              <a:rPr sz="1700">
                <a:latin typeface="Inter"/>
                <a:ea typeface="Inter"/>
                <a:cs typeface="Inter"/>
              </a:rPr>
              <a:t>The Cloudflare Worker handles auth, friendships, nudges, invitations, scoring, and leaderboard sync with D1 and KV.</a:t>
            </a:r>
          </a:p>
        </p:txBody>
      </p:sp>
      <p:pic>
        <p:nvPicPr>
          <p:cNvPr id="539" name=""/>
          <p:cNvPicPr>
            <a:picLocks xmlns:a="http://schemas.openxmlformats.org/drawingml/2006/main" noChangeAspect="1"/>
          </p:cNvPicPr>
          <p:nvPr/>
        </p:nvPicPr>
        <p:blipFill>
          <a:blip xmlns:r="http://schemas.openxmlformats.org/officeDocument/2006/relationships" xmlns:a="http://schemas.openxmlformats.org/drawingml/2006/main" r:embed="R875a8092ca88430e"/>
          <a:srcRect xmlns:a="http://schemas.openxmlformats.org/drawingml/2006/main" l="0" t="0" r="0" b="0"/>
          <a:stretch xmlns:a="http://schemas.openxmlformats.org/drawingml/2006/main"/>
        </p:blipFill>
        <p:spPr>
          <a:xfrm xmlns:a="http://schemas.openxmlformats.org/drawingml/2006/main" flipH="0" flipV="0">
            <a:off x="6269040" y="396409"/>
            <a:ext cx="5539740" cy="5602070"/>
          </a:xfrm>
          <a:prstGeom xmlns:a="http://schemas.openxmlformats.org/drawingml/2006/main" prst="roundRect">
            <a:avLst/>
          </a:prstGeom>
        </p:spPr>
      </p:pic>
    </p:spTree>
    <p:extLst>
      <p:ext uri="{BB962C8B-B14F-4D97-AF65-F5344CB8AC3E}">
        <p14:creationId xmlns:p14="http://schemas.microsoft.com/office/powerpoint/2010/main" val="32456707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6</a:t>
            </a:fld>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Future scope: innovation first, then scale</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0388" y="179792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t>What Abdul can push next</a:t>
            </a: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0388" y="3065806"/>
            <a:ext cx="4774279" cy="2759761"/>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lnSpc>
                <a:spcPct val="114000"/>
              </a:lnSpc>
              <a:spcBef>
                <a:spcPts val="0"/>
              </a:spcBef>
              <a:spcAft>
                <a:spcPts val="800"/>
              </a:spcAft>
              <a:buNone/>
            </a:pPr>
            <a:r>
              <a:rPr sz="1700" b="0" i="0" u="none" cap="none">
                <a:ln>
                  <a:noFill/>
                </a:ln>
              </a:rPr>
              <a:t>The next version can go beyond basic tracking into smarter habit suggestions, richer social experiments, and more adaptive reminder copy while still preserving the calm Hable interface. At the same time, the architecture already points toward scale: server-owned gamification, replay-safe sync, and cloud-backed social state are startup-friendly foundations rather than throwaway demo code.</a:t>
            </a:r>
          </a:p>
        </p:txBody>
      </p:sp>
      <p:sp>
        <p:nvSpPr>
          <p:cNvPr id="5" name="Rounded Rectangle 4">
            <a:extLst xmlns:a="http://schemas.openxmlformats.org/drawingml/2006/main">
              <a:ext uri="{FF2B5EF4-FFF2-40B4-BE49-F238E27FC236}">
                <a16:creationId xmlns:a16="http://schemas.microsoft.com/office/drawing/2014/main" id="{1D611070-583D-3F58-C192-8939D876E8A5}"/>
              </a:ext>
            </a:extLst>
          </p:cNvPr>
          <p:cNvSpPr>
            <a:spLocks xmlns:a="http://schemas.openxmlformats.org/drawingml/2006/main" noGrp="1"/>
          </p:cNvSpPr>
          <p:nvPr/>
        </p:nvSpPr>
        <p:spPr>
          <a:xfrm xmlns:a="http://schemas.openxmlformats.org/drawingml/2006/main">
            <a:off x="6264413" y="172243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tent Placeholder 10">
            <a:extLst xmlns:a="http://schemas.openxmlformats.org/drawingml/2006/main">
              <a:ext uri="{FF2B5EF4-FFF2-40B4-BE49-F238E27FC236}">
                <a16:creationId xmlns:a16="http://schemas.microsoft.com/office/drawing/2014/main" id="{176A6DA9-A945-2CB8-E1DA-17DA3035FD4C}"/>
              </a:ext>
            </a:extLst>
          </p:cNvPr>
          <p:cNvSpPr>
            <a:spLocks xmlns:a="http://schemas.openxmlformats.org/drawingml/2006/main" noGrp="1"/>
          </p:cNvSpPr>
          <p:nvPr/>
        </p:nvSpPr>
        <p:spPr>
          <a:xfrm xmlns:a="http://schemas.openxmlformats.org/drawingml/2006/main">
            <a:off x="6561648" y="2017370"/>
            <a:ext cx="4986886" cy="1048436"/>
          </a:xfrm>
          <a:prstGeom xmlns:a="http://schemas.openxmlformats.org/drawingml/2006/main" prst="rect">
            <a:avLst/>
          </a:prstGeom>
        </p:spPr>
        <p:txBody>
          <a:bodyPr xmlns:a="http://schemas.openxmlformats.org/drawingml/2006/main" vert="horz" lIns="0" tIns="0" rIns="0" bIns="0">
            <a:normAutofit fontScale="84459" lnSpcReduction="2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800"/>
              <a:t>Innovation ideas</a:t>
            </a:r>
          </a:p>
          <a:p xmlns:a="http://schemas.openxmlformats.org/drawingml/2006/main">
            <a:pPr marL="0" indent="0">
              <a:lnSpc>
                <a:spcPct val="100000"/>
              </a:lnSpc>
              <a:spcBef>
                <a:spcPts val="1300"/>
              </a:spcBef>
              <a:spcAft>
                <a:spcPts val="1300"/>
              </a:spcAft>
              <a:buNone/>
            </a:pPr>
            <a:r>
              <a:rPr sz="1800"/>
              <a:t>AI-guided habit suggestions, context-aware reminders, deeper celebrations, and richer social motivation loops.</a:t>
            </a:r>
          </a:p>
        </p:txBody>
      </p:sp>
      <p:sp>
        <p:nvSpPr>
          <p:cNvPr id="7" name="Rounded Rectangle 6">
            <a:extLst xmlns:a="http://schemas.openxmlformats.org/drawingml/2006/main">
              <a:ext uri="{FF2B5EF4-FFF2-40B4-BE49-F238E27FC236}">
                <a16:creationId xmlns:a16="http://schemas.microsoft.com/office/drawing/2014/main" id="{7A99370F-1C2A-C7A9-A2D7-8EC8D6F73423}"/>
              </a:ext>
            </a:extLst>
          </p:cNvPr>
          <p:cNvSpPr>
            <a:spLocks xmlns:a="http://schemas.openxmlformats.org/drawingml/2006/main" noGrp="1"/>
          </p:cNvSpPr>
          <p:nvPr/>
        </p:nvSpPr>
        <p:spPr>
          <a:xfrm xmlns:a="http://schemas.openxmlformats.org/drawingml/2006/main">
            <a:off x="6264413" y="373411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Content Placeholder 10">
            <a:extLst xmlns:a="http://schemas.openxmlformats.org/drawingml/2006/main">
              <a:ext uri="{FF2B5EF4-FFF2-40B4-BE49-F238E27FC236}">
                <a16:creationId xmlns:a16="http://schemas.microsoft.com/office/drawing/2014/main" id="{5BB779E3-29A4-71DB-4059-EE4248BE7003}"/>
              </a:ext>
            </a:extLst>
          </p:cNvPr>
          <p:cNvSpPr>
            <a:spLocks xmlns:a="http://schemas.openxmlformats.org/drawingml/2006/main" noGrp="1"/>
          </p:cNvSpPr>
          <p:nvPr/>
        </p:nvSpPr>
        <p:spPr>
          <a:xfrm xmlns:a="http://schemas.openxmlformats.org/drawingml/2006/main">
            <a:off x="6561648" y="4029050"/>
            <a:ext cx="4986886" cy="1048436"/>
          </a:xfrm>
          <a:prstGeom xmlns:a="http://schemas.openxmlformats.org/drawingml/2006/main" prst="rect">
            <a:avLst/>
          </a:prstGeom>
        </p:spPr>
        <p:txBody>
          <a:bodyPr xmlns:a="http://schemas.openxmlformats.org/drawingml/2006/main" vert="horz" lIns="0" tIns="0" rIns="0" bIns="0">
            <a:normAutofit fontScale="84459" lnSpcReduction="2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800"/>
              <a:t>Scalability path</a:t>
            </a:r>
          </a:p>
          <a:p xmlns:a="http://schemas.openxmlformats.org/drawingml/2006/main">
            <a:pPr marL="0" indent="0">
              <a:lnSpc>
                <a:spcPct val="100000"/>
              </a:lnSpc>
              <a:spcBef>
                <a:spcPts val="1300"/>
              </a:spcBef>
              <a:spcAft>
                <a:spcPts val="1300"/>
              </a:spcAft>
              <a:buNone/>
            </a:pPr>
            <a:r>
              <a:rPr sz="1800"/>
              <a:t>Harden sync, expand analytics safely, and keep one Flutter client while backend services grow with real users.</a:t>
            </a:r>
          </a:p>
        </p:txBody>
      </p:sp>
    </p:spTree>
    <p:extLst>
      <p:ext uri="{BB962C8B-B14F-4D97-AF65-F5344CB8AC3E}">
        <p14:creationId xmlns:p14="http://schemas.microsoft.com/office/powerpoint/2010/main" val="33318791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9</a:t>
            </a:fld>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Hable is aligned with how the project is evaluated</a:t>
            </a: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fontScale="70751"/>
          </a:bodyPr>
          <a:lstStyle xmlns:a="http://schemas.openxmlformats.org/drawingml/2006/main"/>
          <a:p xmlns:a="http://schemas.openxmlformats.org/drawingml/2006/main">
            <a:pPr marL="0" indent="0" algn="l">
              <a:lnSpc>
                <a:spcPct val="100000"/>
              </a:lnSpc>
              <a:spcBef>
                <a:spcPts val="1300"/>
              </a:spcBef>
              <a:spcAft>
                <a:spcPts val="1300"/>
              </a:spcAft>
              <a:buNone/>
            </a:pPr>
            <a:r>
              <a:rPr sz="1600" b="0" i="0" u="none" cap="none">
                <a:ln>
                  <a:noFill/>
                </a:ln>
                <a:latin typeface="Helvetica Neue"/>
                <a:ea typeface="Helvetica Neue"/>
                <a:cs typeface="Helvetica Neue"/>
              </a:rPr>
              <a:t>Innovation and usability: solving the focus problem with a stable but social habit loop.</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fontScale="64184"/>
          </a:bodyPr>
          <a:lstStyle xmlns:a="http://schemas.openxmlformats.org/drawingml/2006/main"/>
          <a:p xmlns:a="http://schemas.openxmlformats.org/drawingml/2006/main">
            <a:pPr marL="0" indent="0" algn="l">
              <a:lnSpc>
                <a:spcPct val="100000"/>
              </a:lnSpc>
              <a:spcBef>
                <a:spcPts val="1300"/>
              </a:spcBef>
              <a:spcAft>
                <a:spcPts val="1300"/>
              </a:spcAft>
              <a:buNone/>
            </a:pPr>
            <a:r>
              <a:rPr sz="1600" b="0" i="0" u="none" cap="none">
                <a:ln>
                  <a:noFill/>
                </a:ln>
                <a:latin typeface="Helvetica Neue"/>
                <a:ea typeface="Helvetica Neue"/>
                <a:cs typeface="Helvetica Neue"/>
              </a:rPr>
              <a:t>Implemented functionality: auth, habits, friends, nudges, points, profiles, and leaderboard flow.</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fontScale="56599"/>
          </a:bodyPr>
          <a:lstStyle xmlns:a="http://schemas.openxmlformats.org/drawingml/2006/main"/>
          <a:p xmlns:a="http://schemas.openxmlformats.org/drawingml/2006/main">
            <a:pPr marL="0" indent="0" algn="l">
              <a:lnSpc>
                <a:spcPct val="100000"/>
              </a:lnSpc>
              <a:spcBef>
                <a:spcPts val="1300"/>
              </a:spcBef>
              <a:spcAft>
                <a:spcPts val="1300"/>
              </a:spcAft>
              <a:buNone/>
            </a:pPr>
            <a:r>
              <a:rPr sz="1600" b="0" i="0" u="none" cap="none">
                <a:ln>
                  <a:noFill/>
                </a:ln>
                <a:latin typeface="Helvetica Neue"/>
                <a:ea typeface="Helvetica Neue"/>
                <a:cs typeface="Helvetica Neue"/>
              </a:rPr>
              <a:t>Device coverage: web today, phone-style UI now, and desktop/mobile targets already present in the repo.</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7000" b="0" i="0" u="none" cap="none">
                <a:ln>
                  <a:noFill/>
                </a:ln>
                <a:solidFill>
                  <a:srgbClr val="BCEF59"/>
                </a:solidFill>
                <a:latin typeface="Helvetica Neue"/>
                <a:ea typeface="Helvetica Neue"/>
                <a:cs typeface="Helvetica Neue"/>
              </a:rPr>
              <a:t>30%</a:t>
            </a:r>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7000" b="0" i="0" u="none" cap="none">
                <a:ln>
                  <a:noFill/>
                </a:ln>
                <a:solidFill>
                  <a:srgbClr val="BCEF59"/>
                </a:solidFill>
                <a:latin typeface="Helvetica Neue"/>
                <a:ea typeface="Helvetica Neue"/>
                <a:cs typeface="Helvetica Neue"/>
              </a:rPr>
              <a:t>40%</a:t>
            </a:r>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7000" b="0" i="0" u="none" cap="none">
                <a:ln>
                  <a:noFill/>
                </a:ln>
                <a:solidFill>
                  <a:srgbClr val="BCEF59"/>
                </a:solidFill>
                <a:latin typeface="Helvetica Neue"/>
                <a:ea typeface="Helvetica Neue"/>
                <a:cs typeface="Helvetica Neue"/>
              </a:rPr>
              <a:t>40%</a:t>
            </a:r>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spcAft>
                <a:spcPts val="800"/>
              </a:spcAft>
              <a:buNone/>
              <a:defRPr sz="1600">
                <a:solidFill>
                  <a:schemeClr val="tx1"/>
                </a:solidFill>
                <a:latin typeface="+mn-lt"/>
                <a:ea typeface="+mn-lt"/>
                <a:cs typeface="+mn-lt"/>
              </a:defRPr>
            </a:lvl1pPr>
            <a:lvl2pPr marL="457200" indent="0" algn="l">
              <a:lnSpc>
                <a:spcPct val="90000"/>
              </a:lnSpc>
              <a:spcBef>
                <a:spcPts val="500"/>
              </a:spcBef>
              <a:spcAft>
                <a:spcPts val="800"/>
              </a:spcAft>
              <a:buNone/>
              <a:defRPr sz="1600">
                <a:solidFill>
                  <a:schemeClr val="tx1"/>
                </a:solidFill>
                <a:latin typeface="+mn-lt"/>
                <a:ea typeface="+mn-lt"/>
                <a:cs typeface="+mn-lt"/>
              </a:defRPr>
            </a:lvl2pPr>
            <a:lvl3pPr marL="914400" indent="0" algn="l">
              <a:lnSpc>
                <a:spcPct val="90000"/>
              </a:lnSpc>
              <a:spcBef>
                <a:spcPts val="500"/>
              </a:spcBef>
              <a:spcAft>
                <a:spcPts val="800"/>
              </a:spcAft>
              <a:buNone/>
              <a:defRPr sz="1600">
                <a:solidFill>
                  <a:schemeClr val="tx1"/>
                </a:solidFill>
                <a:latin typeface="+mn-lt"/>
                <a:ea typeface="+mn-lt"/>
                <a:cs typeface="+mn-lt"/>
              </a:defRPr>
            </a:lvl3pPr>
            <a:lvl4pPr marL="1371600" indent="0" algn="l">
              <a:lnSpc>
                <a:spcPct val="90000"/>
              </a:lnSpc>
              <a:spcBef>
                <a:spcPts val="500"/>
              </a:spcBef>
              <a:spcAft>
                <a:spcPts val="800"/>
              </a:spcAft>
              <a:buNone/>
              <a:defRPr sz="1600">
                <a:solidFill>
                  <a:schemeClr val="tx1"/>
                </a:solidFill>
                <a:latin typeface="+mn-lt"/>
                <a:ea typeface="+mn-lt"/>
                <a:cs typeface="+mn-lt"/>
              </a:defRPr>
            </a:lvl4pPr>
            <a:lvl5pPr marL="1828800" indent="0" algn="l">
              <a:lnSpc>
                <a:spcPct val="90000"/>
              </a:lnSpc>
              <a:spcBef>
                <a:spcPts val="500"/>
              </a:spcBef>
              <a:spcAft>
                <a:spcPts val="800"/>
              </a:spcAft>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Helvetica Neue Medium"/>
                <a:ea typeface="Helvetica Neue Medium"/>
                <a:cs typeface="Helvetica Neue Medium"/>
              </a:rPr>
              <a:t>Lecturer fit</a:t>
            </a:r>
          </a:p>
          <a:p xmlns:a="http://schemas.openxmlformats.org/drawingml/2006/main">
            <a:pPr>
              <a:lnSpc>
                <a:spcPct val="114000"/>
              </a:lnSpc>
              <a:spcBef>
                <a:spcPts val="0"/>
              </a:spcBef>
              <a:spcAft>
                <a:spcPts val="600"/>
              </a:spcAft>
              <a:buNone/>
            </a:pPr>
            <a:r>
              <a:rPr>
                <a:latin typeface="Helvetica Neue"/>
                <a:ea typeface="Helvetica Neue"/>
                <a:cs typeface="Helvetica Neue"/>
              </a:rPr>
              <a:t>The grading priorities are innovation and usefulness, deployment on multiple devices, and implemented functionality. Hable is built to show all three in one coherent story: a useful student problem, real app surfaces, and a codebase that already contains social sync, reminders, gamification, and deployment targets.</a:t>
            </a:r>
          </a:p>
        </p:txBody>
      </p:sp>
    </p:spTree>
    <p:extLst>
      <p:ext uri="{BB962C8B-B14F-4D97-AF65-F5344CB8AC3E}">
        <p14:creationId xmlns:p14="http://schemas.microsoft.com/office/powerpoint/2010/main" val="236961682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9EE8A1CA-4617-FF10-E8D0-B582B7F48A8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10</a:t>
            </a:fld>
          </a:p>
        </p:txBody>
      </p:sp>
      <p:sp>
        <p:nvSpPr>
          <p:cNvPr id="533" name="Google Shape;533;p58">
            <a:extLst xmlns:a="http://schemas.openxmlformats.org/drawingml/2006/main">
              <a:ext uri="{FF2B5EF4-FFF2-40B4-BE49-F238E27FC236}">
                <a16:creationId xmlns:a16="http://schemas.microsoft.com/office/drawing/2014/main" id="{68499D35-F61B-DF1C-10A6-EA04E8D00662}"/>
              </a:ext>
            </a:extLst>
          </p:cNvPr>
          <p:cNvSpPr>
            <a:spLocks xmlns:a="http://schemas.openxmlformats.org/drawingml/2006/main" noGrp="1"/>
          </p:cNvSpPr>
          <p:nvPr>
            <p:ph type="title" idx="0"/>
          </p:nvPr>
        </p:nvSpPr>
        <p:spPr>
          <a:xfrm xmlns:a="http://schemas.openxmlformats.org/drawingml/2006/main">
            <a:off x="393700" y="344008"/>
            <a:ext cx="11404600" cy="792557"/>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Presentation ownership and sequence</a:t>
            </a:r>
          </a:p>
        </p:txBody>
      </p:sp>
      <p:graphicFrame>
        <p:nvGraphicFramePr>
          <p:cNvPr id="537" name="Google Shape;953;p80"/>
          <p:cNvGraphicFramePr/>
          <p:nvPr/>
        </p:nvGraphicFramePr>
        <p:xfrm>
          <a:off xmlns:a="http://schemas.openxmlformats.org/drawingml/2006/main" x="393699" y="1245705"/>
          <a:ext xmlns:a="http://schemas.openxmlformats.org/drawingml/2006/main" cx="11404600" cy="4722192"/>
        </p:xfrm>
        <a:graphic xmlns:a="http://schemas.openxmlformats.org/drawingml/2006/main">
          <a:graphicData uri="http://schemas.openxmlformats.org/drawingml/2006/table">
            <a:tbl>
              <a:tblPr/>
              <a:tblGrid>
                <a:gridCol w="2280920"/>
                <a:gridCol w="2280920"/>
                <a:gridCol w="2280920"/>
                <a:gridCol w="2280920"/>
                <a:gridCol w="2280920"/>
              </a:tblGrid>
              <a:tr h="4722192">
                <a:tc>
                  <a:txBody>
                    <a:bodyPr/>
                    <a:lstStyle/>
                    <a:p>
                      <a:pPr marL="0" indent="0" algn="l">
                        <a:buNone/>
                      </a:pPr>
                      <a:r>
                        <a:rPr sz="1600">
                          <a:solidFill>
                            <a:schemeClr val="tx1"/>
                          </a:solidFill>
                        </a:rPr>
                        <a:t>Emil</a:t>
                      </a: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indent="0" algn="l">
                        <a:buNone/>
                      </a:pPr>
                      <a:r>
                        <a:rPr sz="1600">
                          <a:solidFill>
                            <a:schemeClr val="tx1"/>
                          </a:solidFill>
                        </a:rPr>
                        <a:t>Nabeil</a:t>
                      </a: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indent="0" algn="l">
                        <a:buNone/>
                      </a:pPr>
                      <a:r>
                        <a:rPr sz="1600">
                          <a:solidFill>
                            <a:schemeClr val="tx1"/>
                          </a:solidFill>
                        </a:rPr>
                        <a:t>Social</a:t>
                      </a: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indent="0" algn="l">
                        <a:buNone/>
                      </a:pPr>
                      <a:r>
                        <a:rPr sz="1600">
                          <a:solidFill>
                            <a:schemeClr val="tx1"/>
                          </a:solidFill>
                        </a:rPr>
                        <a:t>Amir</a:t>
                      </a: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indent="0" algn="l">
                        <a:buNone/>
                      </a:pPr>
                      <a:r>
                        <a:rPr sz="1600">
                          <a:solidFill>
                            <a:schemeClr val="tx1"/>
                          </a:solidFill>
                        </a:rPr>
                        <a:t>Abdul</a:t>
                      </a: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r>
            </a:tbl>
          </a:graphicData>
        </a:graphic>
      </p:graphicFrame>
      <p:sp>
        <p:nvSpPr>
          <p:cNvPr id="5" name="Google Shape;955;p80">
            <a:extLst xmlns:a="http://schemas.openxmlformats.org/drawingml/2006/main">
              <a:ext uri="{FF2B5EF4-FFF2-40B4-BE49-F238E27FC236}">
                <a16:creationId xmlns:a16="http://schemas.microsoft.com/office/drawing/2014/main" id="{EA32D89C-6778-2FE2-6D40-ABA6EAAD7EC1}"/>
              </a:ext>
            </a:extLst>
          </p:cNvPr>
          <p:cNvSpPr>
            <a:spLocks xmlns:a="http://schemas.openxmlformats.org/drawingml/2006/main" noGrp="1"/>
          </p:cNvSpPr>
          <p:nvPr/>
        </p:nvSpPr>
        <p:spPr>
          <a:xfrm xmlns:a="http://schemas.openxmlformats.org/drawingml/2006/main">
            <a:off x="4721718" y="4107740"/>
            <a:ext cx="4562665" cy="513300"/>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Code snippets and architecture highlights</a:t>
            </a:r>
          </a:p>
        </p:txBody>
      </p:sp>
      <p:sp>
        <p:nvSpPr>
          <p:cNvPr id="6" name="Google Shape;957;p80">
            <a:extLst xmlns:a="http://schemas.openxmlformats.org/drawingml/2006/main">
              <a:ext uri="{FF2B5EF4-FFF2-40B4-BE49-F238E27FC236}">
                <a16:creationId xmlns:a16="http://schemas.microsoft.com/office/drawing/2014/main" id="{D5359B3A-662D-9283-F7D8-9D5DCD655B5B}"/>
              </a:ext>
            </a:extLst>
          </p:cNvPr>
          <p:cNvSpPr>
            <a:spLocks xmlns:a="http://schemas.openxmlformats.org/drawingml/2006/main" noGrp="1"/>
          </p:cNvSpPr>
          <p:nvPr/>
        </p:nvSpPr>
        <p:spPr>
          <a:xfrm xmlns:a="http://schemas.openxmlformats.org/drawingml/2006/main">
            <a:off x="584093" y="5478390"/>
            <a:ext cx="11026708" cy="513300"/>
          </a:xfrm>
          <a:prstGeom xmlns:a="http://schemas.openxmlformats.org/drawingml/2006/main" prst="roundRect">
            <a:avLst>
              <a:gd name="adj" fmla="val 50000"/>
            </a:avLst>
          </a:prstGeom>
          <a:solidFill xmlns:a="http://schemas.openxmlformats.org/drawingml/2006/main">
            <a:srgbClr val="284638"/>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latin typeface="Inter SemiBold"/>
                <a:ea typeface="Inter SemiBold"/>
                <a:cs typeface="Inter SemiBold"/>
              </a:rPr>
              <a:t>Wrap-up: connect innovation, device breadth, and functionality before Q&amp;A</a:t>
            </a:r>
          </a:p>
        </p:txBody>
      </p:sp>
      <p:sp>
        <p:nvSpPr>
          <p:cNvPr id="7" name="Google Shape;960;p80">
            <a:extLst xmlns:a="http://schemas.openxmlformats.org/drawingml/2006/main">
              <a:ext uri="{FF2B5EF4-FFF2-40B4-BE49-F238E27FC236}">
                <a16:creationId xmlns:a16="http://schemas.microsoft.com/office/drawing/2014/main" id="{2293B6C0-CD6E-C9F0-68F7-73F7B726A1EF}"/>
              </a:ext>
            </a:extLst>
          </p:cNvPr>
          <p:cNvSpPr>
            <a:spLocks xmlns:a="http://schemas.openxmlformats.org/drawingml/2006/main" noGrp="1"/>
          </p:cNvSpPr>
          <p:nvPr/>
        </p:nvSpPr>
        <p:spPr>
          <a:xfrm xmlns:a="http://schemas.openxmlformats.org/drawingml/2006/main">
            <a:off x="7522794" y="4754965"/>
            <a:ext cx="4088008" cy="5133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Future scope and startup scalability</a:t>
            </a:r>
          </a:p>
        </p:txBody>
      </p:sp>
      <p:sp>
        <p:nvSpPr>
          <p:cNvPr id="8" name="Google Shape;963;p80">
            <a:extLst xmlns:a="http://schemas.openxmlformats.org/drawingml/2006/main">
              <a:ext uri="{FF2B5EF4-FFF2-40B4-BE49-F238E27FC236}">
                <a16:creationId xmlns:a16="http://schemas.microsoft.com/office/drawing/2014/main" id="{0F4F3439-EC29-4518-4A3E-7436F8578035}"/>
              </a:ext>
            </a:extLst>
          </p:cNvPr>
          <p:cNvSpPr>
            <a:spLocks xmlns:a="http://schemas.openxmlformats.org/drawingml/2006/main" noGrp="1"/>
          </p:cNvSpPr>
          <p:nvPr/>
        </p:nvSpPr>
        <p:spPr>
          <a:xfrm xmlns:a="http://schemas.openxmlformats.org/drawingml/2006/main">
            <a:off x="2819968" y="3403140"/>
            <a:ext cx="8790833" cy="513300"/>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Shared habits, points, profiles, leaderboard</a:t>
            </a:r>
          </a:p>
        </p:txBody>
      </p:sp>
      <p:sp>
        <p:nvSpPr>
          <p:cNvPr id="9" name="Google Shape;966;p80">
            <a:extLst xmlns:a="http://schemas.openxmlformats.org/drawingml/2006/main">
              <a:ext uri="{FF2B5EF4-FFF2-40B4-BE49-F238E27FC236}">
                <a16:creationId xmlns:a16="http://schemas.microsoft.com/office/drawing/2014/main" id="{1D07E5FD-0BEC-93D6-2CF5-BC908A51553C}"/>
              </a:ext>
            </a:extLst>
          </p:cNvPr>
          <p:cNvSpPr>
            <a:spLocks xmlns:a="http://schemas.openxmlformats.org/drawingml/2006/main" noGrp="1"/>
          </p:cNvSpPr>
          <p:nvPr/>
        </p:nvSpPr>
        <p:spPr>
          <a:xfrm xmlns:a="http://schemas.openxmlformats.org/drawingml/2006/main">
            <a:off x="2819968" y="2698515"/>
            <a:ext cx="6408538" cy="513300"/>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Website and phone walkthrough</a:t>
            </a:r>
          </a:p>
        </p:txBody>
      </p:sp>
      <p:sp>
        <p:nvSpPr>
          <p:cNvPr id="10" name="Google Shape;969;p80">
            <a:extLst xmlns:a="http://schemas.openxmlformats.org/drawingml/2006/main">
              <a:ext uri="{FF2B5EF4-FFF2-40B4-BE49-F238E27FC236}">
                <a16:creationId xmlns:a16="http://schemas.microsoft.com/office/drawing/2014/main" id="{0AB147C5-D3F9-0847-C2A5-2A90154B1A3C}"/>
              </a:ext>
            </a:extLst>
          </p:cNvPr>
          <p:cNvSpPr>
            <a:spLocks xmlns:a="http://schemas.openxmlformats.org/drawingml/2006/main" noGrp="1"/>
          </p:cNvSpPr>
          <p:nvPr/>
        </p:nvSpPr>
        <p:spPr>
          <a:xfrm xmlns:a="http://schemas.openxmlformats.org/drawingml/2006/main">
            <a:off x="507893" y="1975090"/>
            <a:ext cx="4185180" cy="5133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Problem and idea</a:t>
            </a:r>
          </a:p>
        </p:txBody>
      </p:sp>
    </p:spTree>
    <p:extLst>
      <p:ext uri="{BB962C8B-B14F-4D97-AF65-F5344CB8AC3E}">
        <p14:creationId xmlns:p14="http://schemas.microsoft.com/office/powerpoint/2010/main" val="243517153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1F94652D-58EE-6496-27FC-88868633C24A}"/>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Thank you</a:t>
            </a:r>
          </a:p>
          <a:p xmlns:a="http://schemas.openxmlformats.org/drawingml/2006/main">
            <a:pPr algn="ctr">
              <a:buNone/>
            </a:pPr>
            <a:r>
              <a:rPr sz="7200">
                <a:solidFill>
                  <a:srgbClr val="BCEF59"/>
                </a:solidFill>
              </a:rPr>
              <a:t>Hable</a:t>
            </a:r>
          </a:p>
        </p:txBody>
      </p:sp>
      <p:sp>
        <p:nvSpPr>
          <p:cNvPr id="6" name="Subtitle 4">
            <a:extLst xmlns:a="http://schemas.openxmlformats.org/drawingml/2006/main">
              <a:ext uri="{FF2B5EF4-FFF2-40B4-BE49-F238E27FC236}">
                <a16:creationId xmlns:a16="http://schemas.microsoft.com/office/drawing/2014/main" id="{7A15B0DD-3ED8-37CA-9675-F348EABF4C6C}"/>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Questions, feedback, and live demo time</a:t>
            </a:r>
          </a:p>
        </p:txBody>
      </p:sp>
      <p:sp>
        <p:nvSpPr>
          <p:cNvPr id="3" name="Rounded Rectangle 2">
            <a:extLst xmlns:a="http://schemas.openxmlformats.org/drawingml/2006/main">
              <a:ext uri="{FF2B5EF4-FFF2-40B4-BE49-F238E27FC236}">
                <a16:creationId xmlns:a16="http://schemas.microsoft.com/office/drawing/2014/main" id="{64FF5F30-1F7D-7291-7074-4D9972C874C3}"/>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Habit + Stable</a:t>
            </a:r>
          </a:p>
        </p:txBody>
      </p:sp>
    </p:spTree>
    <p:extLst>
      <p:ext uri="{BB962C8B-B14F-4D97-AF65-F5344CB8AC3E}">
        <p14:creationId xmlns:p14="http://schemas.microsoft.com/office/powerpoint/2010/main" val="2385373601"/>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2026-07-14T13:13:33.8710000Z</dcterms:created>
  <dcterms:modified xsi:type="dcterms:W3CDTF">2026-07-14T13:13:33.8710000Z</dcterms:modified>
</coreProperties>
</file>